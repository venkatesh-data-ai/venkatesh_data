
<file path=[Content_Types].xml><?xml version="1.0" encoding="utf-8"?>
<Types xmlns="http://schemas.openxmlformats.org/package/2006/content-types">
  <Default Extension="PhpPresentationReaderPpt2007BkgaGKhKH" ContentType="application/octet-stream"/>
  <Default Extension="PhpPresentationReaderPpt2007BkgcjIomH" ContentType="application/octet-stream"/>
  <Default Extension="PhpPresentationReaderPpt2007BkgdDCcOH" ContentType="application/octet-stream"/>
  <Default Extension="PhpPresentationReaderPpt2007BkghMFCFH" ContentType="application/octet-stream"/>
  <Default Extension="PhpPresentationReaderPpt2007BkgkbkhgH" ContentType="application/octet-stream"/>
  <Default Extension="PhpPresentationReaderPpt2007BkgmbKBeH" ContentType="application/octet-stream"/>
  <Default Extension="PhpPresentationReaderPpt2007BkgNOgjMH" ContentType="application/octet-stream"/>
  <Default Extension="PhpPresentationReaderPpt2007BkgpccliH" ContentType="application/octet-stream"/>
  <Default Extension="PhpPresentationReaderPpt2007BkgpdkMbH" ContentType="application/octet-stream"/>
  <Default Extension="PhpPresentationReaderPpt2007BkgpkOGlH" ContentType="application/octet-stream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6" r:id="rId6"/>
    <p:sldId id="268" r:id="rId7"/>
    <p:sldId id="269" r:id="rId8"/>
    <p:sldId id="270" r:id="rId9"/>
    <p:sldId id="279" r:id="rId10"/>
    <p:sldId id="271" r:id="rId11"/>
    <p:sldId id="272" r:id="rId12"/>
    <p:sldId id="273" r:id="rId13"/>
    <p:sldId id="260" r:id="rId14"/>
    <p:sldId id="261" r:id="rId15"/>
    <p:sldId id="262" r:id="rId16"/>
    <p:sldId id="263" r:id="rId17"/>
    <p:sldId id="275" r:id="rId18"/>
    <p:sldId id="276" r:id="rId19"/>
    <p:sldId id="277" r:id="rId20"/>
    <p:sldId id="282" r:id="rId21"/>
    <p:sldId id="283" r:id="rId22"/>
    <p:sldId id="284" r:id="rId23"/>
    <p:sldId id="285" r:id="rId24"/>
    <p:sldId id="281" r:id="rId25"/>
    <p:sldId id="264" r:id="rId26"/>
    <p:sldId id="265" r:id="rId27"/>
    <p:sldId id="267" r:id="rId28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81" d="100"/>
          <a:sy n="8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203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Good evening everyone. I'm Venkatesh Athikulam Muthusamy, and I'm excited to present my Data Science Capstone project titled: </a:t>
            </a:r>
            <a:r>
              <a:rPr lang="en-AU" b="1" dirty="0"/>
              <a:t>Enhancing the Interpretability of Statistical Models on High-Dimensional Heterogeneous Data Using Mixture of Expert Models with Python.</a:t>
            </a:r>
            <a:endParaRPr lang="en-AU" dirty="0"/>
          </a:p>
          <a:p>
            <a:r>
              <a:rPr lang="en-AU" dirty="0"/>
              <a:t>This work addresses the dual challenge of model accuracy and </a:t>
            </a:r>
            <a:r>
              <a:rPr lang="en-AU" dirty="0" err="1"/>
              <a:t>explainability</a:t>
            </a:r>
            <a:r>
              <a:rPr lang="en-AU" dirty="0"/>
              <a:t> in biological systems where data is high-dimensional, noisy, and not easily interpretable. Let’s dive into what motivated this project and what we achieved.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the correlation heatmaps for all four covariance structures. It’s clear that BLLiM is better suited to block and Toeplitz structures due to its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we compare RMSE across models. GLLiM performs poorly under structured noise, while BLLiM adapts to block-diagonal patterns, reducing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plot shows regression coefficients for real maize traits. BLLiM captures cluster-specific effects more clearly than GLLiM.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reimplemented BLLiM and GLLiM-Lw in Python from scratch. This removed R dependency and allowed full integration into our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for your time. I’m happy to take any questions now. You can reach out via email or GitHub for further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hpPresentationReaderPpt2007BkghMFCFH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hpPresentationReaderPpt2007BkgaGKhKH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hpPresentationReaderPpt2007BkgNOgjMH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hpPresentationReaderPpt2007BkgdDCcOH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hpPresentationReaderPpt2007BkgpdkMbH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hpPresentationReaderPpt2007BkgmbKBeH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hpPresentationReaderPpt2007BkgkbkhgH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hpPresentationReaderPpt2007BkgpccliH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hpPresentationReaderPpt2007BkgpkOGlH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hpPresentationReaderPpt2007BkgcjIomH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hpPresentationReaderPpt2007BkgdDCcOH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hpPresentationReaderPpt2007BkgmbKBeH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AND_BOD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_1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1_1_2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436825118" r:id="rId1"/>
    <p:sldLayoutId id="2436825119" r:id="rId2"/>
    <p:sldLayoutId id="2436825120" r:id="rId3"/>
    <p:sldLayoutId id="2436825121" r:id="rId4"/>
    <p:sldLayoutId id="2436825122" r:id="rId5"/>
    <p:sldLayoutId id="2436825123" r:id="rId6"/>
    <p:sldLayoutId id="2436825124" r:id="rId7"/>
    <p:sldLayoutId id="2436825125" r:id="rId8"/>
    <p:sldLayoutId id="2436825126" r:id="rId9"/>
    <p:sldLayoutId id="2436825127" r:id="rId10"/>
    <p:sldLayoutId id="2436825128" r:id="rId11"/>
    <p:sldLayoutId id="2436825129" r:id="rId12"/>
  </p:sldLayoutIdLst>
  <p:txStyles>
    <p:titleStyle>
      <a:defPPr algn="l">
        <a:defRPr kern="1200"/>
      </a:defPPr>
      <a:lvl1pPr algn="l">
        <a:defRPr sz="1400" kern="1200"/>
      </a:lvl1pPr>
      <a:lvl2pPr algn="l">
        <a:defRPr sz="1400" kern="1200"/>
      </a:lvl2pPr>
      <a:lvl3pPr algn="l">
        <a:defRPr sz="1400" kern="1200"/>
      </a:lvl3pPr>
      <a:lvl4pPr algn="l">
        <a:defRPr sz="1400" kern="1200"/>
      </a:lvl4pPr>
      <a:lvl5pPr algn="l">
        <a:defRPr sz="1400" kern="1200"/>
      </a:lvl5pPr>
      <a:lvl6pPr algn="l">
        <a:defRPr sz="1400" kern="1200"/>
      </a:lvl6pPr>
      <a:lvl7pPr algn="l">
        <a:defRPr sz="1400" kern="1200"/>
      </a:lvl7pPr>
      <a:lvl8pPr algn="l">
        <a:defRPr sz="1400" kern="1200"/>
      </a:lvl8pPr>
      <a:lvl9pPr algn="l">
        <a:defRPr sz="1400" kern="1200"/>
      </a:lvl9pPr>
      <a:extLst/>
    </p:titleStyle>
    <p:bodyStyle>
      <a:defPPr algn="l">
        <a:defRPr kern="1200"/>
      </a:defPPr>
      <a:lvl1pPr algn="l">
        <a:defRPr sz="1400" kern="1200"/>
      </a:lvl1pPr>
      <a:lvl2pPr algn="l">
        <a:defRPr sz="1400" kern="1200"/>
      </a:lvl2pPr>
      <a:lvl3pPr algn="l">
        <a:defRPr sz="1400" kern="1200"/>
      </a:lvl3pPr>
      <a:lvl4pPr algn="l">
        <a:defRPr sz="1400" kern="1200"/>
      </a:lvl4pPr>
      <a:lvl5pPr algn="l">
        <a:defRPr sz="1400" kern="1200"/>
      </a:lvl5pPr>
      <a:lvl6pPr algn="l">
        <a:defRPr sz="1400" kern="1200"/>
      </a:lvl6pPr>
      <a:lvl7pPr algn="l">
        <a:defRPr sz="1400" kern="1200"/>
      </a:lvl7pPr>
      <a:lvl8pPr algn="l">
        <a:defRPr sz="1400" kern="1200"/>
      </a:lvl8pPr>
      <a:lvl9pPr algn="l">
        <a:defRPr sz="1400" kern="1200"/>
      </a:lvl9pPr>
      <a:extLst/>
    </p:bodyStyle>
    <p:otherStyle>
      <a:defPPr algn="l">
        <a:defRPr kern="1200"/>
      </a:defPPr>
      <a:lvl1pPr algn="l">
        <a:defRPr sz="1400" kern="1200"/>
      </a:lvl1pPr>
      <a:lvl2pPr algn="l">
        <a:defRPr sz="1400" kern="1200"/>
      </a:lvl2pPr>
      <a:lvl3pPr algn="l">
        <a:defRPr sz="1400" kern="1200"/>
      </a:lvl3pPr>
      <a:lvl4pPr algn="l">
        <a:defRPr sz="1400" kern="1200"/>
      </a:lvl4pPr>
      <a:lvl5pPr algn="l">
        <a:defRPr sz="1400" kern="1200"/>
      </a:lvl5pPr>
      <a:lvl6pPr algn="l">
        <a:defRPr sz="1400" kern="1200"/>
      </a:lvl6pPr>
      <a:lvl7pPr algn="l">
        <a:defRPr sz="1400" kern="1200"/>
      </a:lvl7pPr>
      <a:lvl8pPr algn="l">
        <a:defRPr sz="1400" kern="1200"/>
      </a:lvl8pPr>
      <a:lvl9pPr algn="l">
        <a:defRPr sz="1400" kern="1200"/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3257550"/>
          <a:chOff x="914400" y="1543050"/>
          <a:chExt cx="8229600" cy="3257550"/>
        </a:xfrm>
      </p:grpSpPr>
      <p:sp>
        <p:nvSpPr>
          <p:cNvPr id="3" name="TextBox 2"/>
          <p:cNvSpPr txBox="1"/>
          <p:nvPr/>
        </p:nvSpPr>
        <p:spPr>
          <a:xfrm>
            <a:off x="971600" y="627534"/>
            <a:ext cx="7315200" cy="707886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algn="ctr" fontAlgn="t"/>
            <a:r>
              <a:rPr lang="en-US" sz="2000" b="1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Data Science Capstone Project</a:t>
            </a:r>
          </a:p>
          <a:p>
            <a:pPr marL="0" marR="0" lvl="0" indent="0" algn="ctr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u="none" strike="noStrike" cap="none" spc="0" dirty="0">
              <a:solidFill>
                <a:srgbClr val="FFAB40">
                  <a:alpha val="100000"/>
                </a:srgb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342B4-6178-4E26-BD44-33CC93A31433}"/>
              </a:ext>
            </a:extLst>
          </p:cNvPr>
          <p:cNvSpPr txBox="1"/>
          <p:nvPr/>
        </p:nvSpPr>
        <p:spPr>
          <a:xfrm>
            <a:off x="2286000" y="1071113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b="1" u="none" strike="noStrike" cap="none" spc="0" dirty="0">
              <a:solidFill>
                <a:srgbClr val="FFAB40">
                  <a:alpha val="100000"/>
                </a:srgbClr>
              </a:solidFill>
              <a:latin typeface="Calibri"/>
            </a:endParaRPr>
          </a:p>
          <a:p>
            <a:pPr marL="0" marR="0" lvl="0" indent="0" algn="ctr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u="none" strike="noStrike" cap="none" spc="0" dirty="0">
                <a:solidFill>
                  <a:srgbClr val="FFAB40">
                    <a:alpha val="100000"/>
                  </a:srgbClr>
                </a:solidFill>
                <a:latin typeface="Calibri"/>
              </a:rPr>
              <a:t>Enhancing the interpretability of statistical models on high-dimensional heterogeneous data using mixture of expert models with 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4F5A4-9496-40B7-8714-009E68AAFE1A}"/>
              </a:ext>
            </a:extLst>
          </p:cNvPr>
          <p:cNvSpPr txBox="1"/>
          <p:nvPr/>
        </p:nvSpPr>
        <p:spPr>
          <a:xfrm>
            <a:off x="2290093" y="285978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u="none" strike="noStrike" cap="none" spc="0" dirty="0">
                <a:solidFill>
                  <a:schemeClr val="bg1"/>
                </a:solidFill>
                <a:latin typeface="Calibri"/>
              </a:rPr>
              <a:t>Venkatesh Athikulam Muthusamy-s4783496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4676775"/>
          <a:chOff x="914400" y="1028700"/>
          <a:chExt cx="8229600" cy="4676775"/>
        </a:xfrm>
      </p:grpSpPr>
      <p:sp>
        <p:nvSpPr>
          <p:cNvPr id="2" name="TextBox 1"/>
          <p:cNvSpPr txBox="1"/>
          <p:nvPr/>
        </p:nvSpPr>
        <p:spPr>
          <a:xfrm>
            <a:off x="1828800" y="1028700"/>
            <a:ext cx="548640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ctr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00225"/>
            <a:ext cx="7315200" cy="1089529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ctr" rtl="0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This capstone project report focuses on enhancing the interpretability of statistical models, specifically </a:t>
            </a:r>
            <a:r>
              <a:rPr lang="en-US" b="1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BLLiM</a:t>
            </a:r>
            <a:r>
              <a:rPr lang="en-US" b="1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and </a:t>
            </a:r>
            <a:r>
              <a:rPr lang="en-US" b="1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GLLiM</a:t>
            </a:r>
            <a:r>
              <a:rPr lang="en-US" b="1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models, using Python. The work is inspired by the research conducted by </a:t>
            </a:r>
            <a:r>
              <a:rPr lang="en-US" b="1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Blein</a:t>
            </a:r>
            <a:r>
              <a:rPr lang="en-US" b="1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-Nicolas et al. (2024).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/>
          <p:cNvSpPr txBox="1"/>
          <p:nvPr/>
        </p:nvSpPr>
        <p:spPr>
          <a:xfrm>
            <a:off x="914400" y="1028700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00225"/>
            <a:ext cx="7315200" cy="12192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Enhance interpretability of high-dimensional heterogeneous data.
Replicate and extend interpretations of BLLiM and GLLiM models using Python.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324225"/>
          <a:chOff x="914400" y="1028700"/>
          <a:chExt cx="8229600" cy="3324225"/>
        </a:xfrm>
      </p:grpSpPr>
      <p:sp>
        <p:nvSpPr>
          <p:cNvPr id="2" name="TextBox 1"/>
          <p:cNvSpPr txBox="1"/>
          <p:nvPr/>
        </p:nvSpPr>
        <p:spPr>
          <a:xfrm>
            <a:off x="914400" y="1028700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Methodology and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00225"/>
            <a:ext cx="7315200" cy="1524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Simulation of synthetic datasets using nonlinear functions and covariance structures.
Evaluation of different statistical models.
Validation through synthetic and real biological data.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2038350"/>
          <a:chOff x="914400" y="1028700"/>
          <a:chExt cx="8229600" cy="2038350"/>
        </a:xfrm>
      </p:grpSpPr>
      <p:sp>
        <p:nvSpPr>
          <p:cNvPr id="2" name="TextBox 1"/>
          <p:cNvSpPr txBox="1"/>
          <p:nvPr/>
        </p:nvSpPr>
        <p:spPr>
          <a:xfrm>
            <a:off x="611560" y="123478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 dirty="0">
                <a:solidFill>
                  <a:srgbClr val="FFAB40">
                    <a:alpha val="100000"/>
                  </a:srgbClr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2" y="627534"/>
            <a:ext cx="7315200" cy="4953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Font typeface="Calibri"/>
              <a:buChar char="-"/>
            </a:pPr>
            <a:r>
              <a:rPr lang="en-US" sz="1400" b="1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</a:t>
            </a:r>
            <a:r>
              <a:rPr lang="en-US" sz="1400" b="1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Blein</a:t>
            </a:r>
            <a:r>
              <a:rPr lang="en-US" sz="1400" b="1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-Nicolas, M., et al. (2024). Nonlinear network-based quantitative trait prediction from biological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8F949-B5BD-4012-BDF1-662328A7CF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09"/>
          <a:stretch/>
        </p:blipFill>
        <p:spPr>
          <a:xfrm>
            <a:off x="650495" y="1419622"/>
            <a:ext cx="6801826" cy="325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Paper Title: 'Nonlinear network-based quantitative trait prediction from biological data'</a:t>
            </a:r>
          </a:p>
          <a:p>
            <a:r>
              <a:rPr dirty="0">
                <a:solidFill>
                  <a:schemeClr val="bg1"/>
                </a:solidFill>
              </a:rPr>
              <a:t>• Goal: Predict plant traits using interpretable models on proteomic data</a:t>
            </a:r>
          </a:p>
          <a:p>
            <a:r>
              <a:rPr dirty="0">
                <a:solidFill>
                  <a:schemeClr val="bg1"/>
                </a:solidFill>
              </a:rPr>
              <a:t>• Dataset: 973 protein features across 233 maize samples</a:t>
            </a:r>
          </a:p>
          <a:p>
            <a:r>
              <a:rPr dirty="0">
                <a:solidFill>
                  <a:schemeClr val="bg1"/>
                </a:solidFill>
              </a:rPr>
              <a:t>• Our project reproduces their figures in Python with new evaluations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9B47E-A8F3-4236-AA35-D384E5E17D96}"/>
              </a:ext>
            </a:extLst>
          </p:cNvPr>
          <p:cNvSpPr txBox="1"/>
          <p:nvPr/>
        </p:nvSpPr>
        <p:spPr>
          <a:xfrm>
            <a:off x="731520" y="84838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 err="1">
                <a:solidFill>
                  <a:srgbClr val="FFC000"/>
                </a:solidFill>
              </a:rPr>
              <a:t>Blein</a:t>
            </a:r>
            <a:r>
              <a:rPr lang="en-AU" sz="2800" b="1" dirty="0">
                <a:solidFill>
                  <a:srgbClr val="FFC000"/>
                </a:solidFill>
              </a:rPr>
              <a:t>-Nicolas Paper 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9262" y="1371421"/>
            <a:ext cx="777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AU" dirty="0">
              <a:solidFill>
                <a:schemeClr val="bg1"/>
              </a:solidFill>
            </a:endParaRPr>
          </a:p>
          <a:p>
            <a:r>
              <a:rPr lang="en-AU" dirty="0">
                <a:solidFill>
                  <a:schemeClr val="bg1"/>
                </a:solidFill>
              </a:rPr>
              <a:t>• </a:t>
            </a:r>
            <a:r>
              <a:rPr lang="en-AU" dirty="0" err="1">
                <a:solidFill>
                  <a:schemeClr val="bg1"/>
                </a:solidFill>
              </a:rPr>
              <a:t>GLLiM</a:t>
            </a:r>
            <a:r>
              <a:rPr lang="en-AU" dirty="0">
                <a:solidFill>
                  <a:schemeClr val="bg1"/>
                </a:solidFill>
              </a:rPr>
              <a:t>: Global linear mapping with diagonal covariance</a:t>
            </a:r>
          </a:p>
          <a:p>
            <a:r>
              <a:rPr lang="en-AU" dirty="0">
                <a:solidFill>
                  <a:schemeClr val="bg1"/>
                </a:solidFill>
              </a:rPr>
              <a:t>• </a:t>
            </a:r>
            <a:r>
              <a:rPr lang="en-AU" dirty="0" err="1">
                <a:solidFill>
                  <a:schemeClr val="bg1"/>
                </a:solidFill>
              </a:rPr>
              <a:t>BLLiM</a:t>
            </a:r>
            <a:r>
              <a:rPr lang="en-AU" dirty="0">
                <a:solidFill>
                  <a:schemeClr val="bg1"/>
                </a:solidFill>
              </a:rPr>
              <a:t>: Local expert regressions with block-diagonal covariance</a:t>
            </a:r>
          </a:p>
          <a:p>
            <a:r>
              <a:rPr lang="en-AU" dirty="0">
                <a:solidFill>
                  <a:schemeClr val="bg1"/>
                </a:solidFill>
              </a:rPr>
              <a:t>• </a:t>
            </a:r>
            <a:r>
              <a:rPr lang="en-AU" dirty="0" err="1">
                <a:solidFill>
                  <a:schemeClr val="bg1"/>
                </a:solidFill>
              </a:rPr>
              <a:t>BLLiM</a:t>
            </a:r>
            <a:r>
              <a:rPr lang="en-AU" dirty="0">
                <a:solidFill>
                  <a:schemeClr val="bg1"/>
                </a:solidFill>
              </a:rPr>
              <a:t> adapts better to noise structure and cluster variability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EB930-2D91-4B79-ACAF-CE7D2338ADE9}"/>
              </a:ext>
            </a:extLst>
          </p:cNvPr>
          <p:cNvSpPr txBox="1"/>
          <p:nvPr/>
        </p:nvSpPr>
        <p:spPr>
          <a:xfrm>
            <a:off x="755576" y="555526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 err="1">
                <a:solidFill>
                  <a:srgbClr val="FFC000"/>
                </a:solidFill>
              </a:rPr>
              <a:t>GLLiM</a:t>
            </a:r>
            <a:r>
              <a:rPr lang="en-AU" sz="2800" dirty="0">
                <a:solidFill>
                  <a:srgbClr val="FFC000"/>
                </a:solidFill>
              </a:rPr>
              <a:t> vs </a:t>
            </a:r>
            <a:r>
              <a:rPr lang="en-AU" sz="2800" dirty="0" err="1">
                <a:solidFill>
                  <a:srgbClr val="FFC000"/>
                </a:solidFill>
              </a:rPr>
              <a:t>BLLiM</a:t>
            </a:r>
            <a:r>
              <a:rPr lang="en-AU" sz="2800" dirty="0">
                <a:solidFill>
                  <a:srgbClr val="FFC000"/>
                </a:solidFill>
              </a:rPr>
              <a:t> – Model Differences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36244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Functions used: f, g, h – nonlinear mappings</a:t>
            </a:r>
          </a:p>
          <a:p>
            <a:r>
              <a:rPr dirty="0">
                <a:solidFill>
                  <a:schemeClr val="bg1"/>
                </a:solidFill>
              </a:rPr>
              <a:t>• Structures: Independent, Block, Factor, Toeplitz</a:t>
            </a:r>
          </a:p>
          <a:p>
            <a:r>
              <a:rPr dirty="0">
                <a:solidFill>
                  <a:schemeClr val="bg1"/>
                </a:solidFill>
              </a:rPr>
              <a:t>• Generated 12 datasets with D=50, N=200</a:t>
            </a:r>
          </a:p>
          <a:p>
            <a:r>
              <a:rPr dirty="0">
                <a:solidFill>
                  <a:schemeClr val="bg1"/>
                </a:solidFill>
              </a:rPr>
              <a:t>• Simulates realistic and challenging model scenarios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D2109D-EFE3-4CF1-85F5-65D975F3C9F5}"/>
              </a:ext>
            </a:extLst>
          </p:cNvPr>
          <p:cNvSpPr txBox="1"/>
          <p:nvPr/>
        </p:nvSpPr>
        <p:spPr>
          <a:xfrm>
            <a:off x="731520" y="77155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FFC000"/>
                </a:solidFill>
              </a:rPr>
              <a:t>Synthetic Data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5E9A51-797F-4050-B538-1D102C90DF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601778"/>
            <a:ext cx="4427984" cy="2124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8078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rgbClr val="FFC000"/>
                </a:solidFill>
              </a:rPr>
              <a:t>Clarification: Real Data Analysis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6043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• Real-data evaluation focused on model interpretability, not RMSE benchmarking.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• Used </a:t>
            </a:r>
            <a:r>
              <a:rPr dirty="0" err="1">
                <a:solidFill>
                  <a:schemeClr val="bg1"/>
                </a:solidFill>
              </a:rPr>
              <a:t>BLLiM</a:t>
            </a:r>
            <a:r>
              <a:rPr dirty="0">
                <a:solidFill>
                  <a:schemeClr val="bg1"/>
                </a:solidFill>
              </a:rPr>
              <a:t> to extract protein clusters and regression patterns.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• Reproduced Figures 3 and 4 from </a:t>
            </a:r>
            <a:r>
              <a:rPr dirty="0" err="1">
                <a:solidFill>
                  <a:schemeClr val="bg1"/>
                </a:solidFill>
              </a:rPr>
              <a:t>Blein</a:t>
            </a:r>
            <a:r>
              <a:rPr dirty="0">
                <a:solidFill>
                  <a:schemeClr val="bg1"/>
                </a:solidFill>
              </a:rPr>
              <a:t>-Nicolas et al. (2024).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Models: </a:t>
            </a:r>
            <a:r>
              <a:rPr dirty="0" err="1">
                <a:solidFill>
                  <a:schemeClr val="bg1"/>
                </a:solidFill>
              </a:rPr>
              <a:t>GLLiM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BLLiM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GLLiM-Lw</a:t>
            </a:r>
            <a:r>
              <a:rPr dirty="0">
                <a:solidFill>
                  <a:schemeClr val="bg1"/>
                </a:solidFill>
              </a:rPr>
              <a:t>, RF, SVM, MARS, SIR</a:t>
            </a:r>
          </a:p>
          <a:p>
            <a:r>
              <a:rPr dirty="0">
                <a:solidFill>
                  <a:schemeClr val="bg1"/>
                </a:solidFill>
              </a:rPr>
              <a:t>• Metrics: RMSE, interpretability, cluster discovery</a:t>
            </a:r>
          </a:p>
          <a:p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BLLiM</a:t>
            </a:r>
            <a:r>
              <a:rPr dirty="0">
                <a:solidFill>
                  <a:schemeClr val="bg1"/>
                </a:solidFill>
              </a:rPr>
              <a:t> outperforms in structured noise and biological insight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8BD6C-772E-4CB3-9AC0-B5AD613E02D0}"/>
              </a:ext>
            </a:extLst>
          </p:cNvPr>
          <p:cNvSpPr txBox="1"/>
          <p:nvPr/>
        </p:nvSpPr>
        <p:spPr>
          <a:xfrm>
            <a:off x="539552" y="69954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FFC000"/>
                </a:solidFill>
              </a:rPr>
              <a:t>Model Comparison 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Translating </a:t>
            </a:r>
            <a:r>
              <a:rPr dirty="0" err="1">
                <a:solidFill>
                  <a:schemeClr val="bg1"/>
                </a:solidFill>
              </a:rPr>
              <a:t>xLLiM</a:t>
            </a:r>
            <a:r>
              <a:rPr dirty="0">
                <a:solidFill>
                  <a:schemeClr val="bg1"/>
                </a:solidFill>
              </a:rPr>
              <a:t> R functions to Python</a:t>
            </a:r>
          </a:p>
          <a:p>
            <a:r>
              <a:rPr dirty="0">
                <a:solidFill>
                  <a:schemeClr val="bg1"/>
                </a:solidFill>
              </a:rPr>
              <a:t>• Matching real-data figures from the original paper</a:t>
            </a:r>
          </a:p>
          <a:p>
            <a:r>
              <a:rPr dirty="0">
                <a:solidFill>
                  <a:schemeClr val="bg1"/>
                </a:solidFill>
              </a:rPr>
              <a:t>• Model tuning for clusters (K) and covariance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D639B-50C6-4899-A932-E68A5F592091}"/>
              </a:ext>
            </a:extLst>
          </p:cNvPr>
          <p:cNvSpPr txBox="1"/>
          <p:nvPr/>
        </p:nvSpPr>
        <p:spPr>
          <a:xfrm>
            <a:off x="731520" y="69954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FFC000"/>
                </a:solidFill>
              </a:rPr>
              <a:t>Challenges Faced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Generate synthetic datasets</a:t>
            </a:r>
          </a:p>
          <a:p>
            <a:r>
              <a:rPr dirty="0">
                <a:solidFill>
                  <a:schemeClr val="bg1"/>
                </a:solidFill>
              </a:rPr>
              <a:t>• Train and evaluate 7 models on RMSE</a:t>
            </a:r>
          </a:p>
          <a:p>
            <a:r>
              <a:rPr dirty="0">
                <a:solidFill>
                  <a:schemeClr val="bg1"/>
                </a:solidFill>
              </a:rPr>
              <a:t>• Apply best models on real maize dataset</a:t>
            </a:r>
          </a:p>
          <a:p>
            <a:r>
              <a:rPr dirty="0">
                <a:solidFill>
                  <a:schemeClr val="bg1"/>
                </a:solidFill>
              </a:rPr>
              <a:t>• Extract regression coefficients and protein networks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4625A-C03E-4274-B789-6BC1B219D79F}"/>
              </a:ext>
            </a:extLst>
          </p:cNvPr>
          <p:cNvSpPr txBox="1"/>
          <p:nvPr/>
        </p:nvSpPr>
        <p:spPr>
          <a:xfrm>
            <a:off x="827584" y="77155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FFC000"/>
                </a:solidFill>
              </a:rPr>
              <a:t>Pipeline Overview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2714625"/>
          <a:chOff x="914400" y="1028700"/>
          <a:chExt cx="8229600" cy="2714625"/>
        </a:xfrm>
      </p:grpSpPr>
      <p:sp>
        <p:nvSpPr>
          <p:cNvPr id="2" name="TextBox 1"/>
          <p:cNvSpPr txBox="1"/>
          <p:nvPr/>
        </p:nvSpPr>
        <p:spPr>
          <a:xfrm>
            <a:off x="611560" y="51470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 dirty="0">
                <a:solidFill>
                  <a:srgbClr val="FFAB40">
                    <a:alpha val="100000"/>
                  </a:srgbClr>
                </a:solidFill>
                <a:latin typeface="Calibri"/>
              </a:rPr>
              <a:t>Simulation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90" y="555526"/>
            <a:ext cx="4064818" cy="44012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Generated 12 synthetic datasets.
Utilized nonlinear functions and four covariance types (Independent, Block, Factor, Toeplitz). </a:t>
            </a:r>
          </a:p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FFFFFF">
                  <a:alpha val="100000"/>
                </a:srgbClr>
              </a:solidFill>
              <a:latin typeface="Calibri"/>
            </a:endParaRPr>
          </a:p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Simulated 4 noise structures: Independent, Block, Factor,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ToeplitzGLLiM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assumes independent noise → works only for Independent &amp;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FactorBLLiM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handles structured noise using block-diagonal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covariancePurpose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: Evaluate model robustness under different correlation patterns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9D3BE-F2B4-4814-B103-4A33BD19CA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677" y="1197628"/>
            <a:ext cx="4211959" cy="3599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2409825"/>
          <a:chOff x="914400" y="1028700"/>
          <a:chExt cx="8229600" cy="2409825"/>
        </a:xfrm>
      </p:grpSpPr>
      <p:sp>
        <p:nvSpPr>
          <p:cNvPr id="2" name="TextBox 1"/>
          <p:cNvSpPr txBox="1"/>
          <p:nvPr/>
        </p:nvSpPr>
        <p:spPr>
          <a:xfrm>
            <a:off x="554360" y="123478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 dirty="0">
                <a:solidFill>
                  <a:srgbClr val="FFAB40">
                    <a:alpha val="100000"/>
                  </a:srgbClr>
                </a:solidFill>
                <a:latin typeface="Calibri"/>
              </a:rP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544" y="618817"/>
            <a:ext cx="3297560" cy="44012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Compared RMSE of various models.
Reproduced key figures from the original paper. RMSE evaluated across models: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GLLiM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,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BLLiM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,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GLLiM-Lw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, RF, SVM, MARS,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SIRGLLiM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shows higher RMSE in Block and Toeplitz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settingsBLLiM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consistently outperforms due to cluster-aware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modelingReproduced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Table A.1 and Figure 2 from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Blein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-Nicolas (2024)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CE856-9BF9-4057-A973-B548DFAAC5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694503"/>
            <a:ext cx="4536504" cy="145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2409825"/>
          <a:chOff x="914400" y="1028700"/>
          <a:chExt cx="8229600" cy="2409825"/>
        </a:xfrm>
      </p:grpSpPr>
      <p:sp>
        <p:nvSpPr>
          <p:cNvPr id="2" name="TextBox 1"/>
          <p:cNvSpPr txBox="1"/>
          <p:nvPr/>
        </p:nvSpPr>
        <p:spPr>
          <a:xfrm>
            <a:off x="395536" y="135533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 dirty="0">
                <a:solidFill>
                  <a:srgbClr val="FFAB40">
                    <a:alpha val="100000"/>
                  </a:srgbClr>
                </a:solidFill>
                <a:latin typeface="Calibri"/>
              </a:rPr>
              <a:t>Real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211" y="699542"/>
            <a:ext cx="3694901" cy="378565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Applied models to a maize proteomic dataset.
Implemented 10-fold cross-validation. Real maize dataset: 973 proteomic features predicting LAI.WD &amp; WU.WD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BLLiM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reveals clear cluster-specific coefficient patterns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GLLiM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produces blurred coefficients → lacks interpretability Matches Figure 3 from the original paper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E82A3D-228B-4367-91E2-8C614F6C37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20903"/>
            <a:ext cx="3694901" cy="22117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894B30-DF1B-4A35-A7AD-EDDFAC32D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2623246"/>
            <a:ext cx="3694901" cy="2269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900F92-5DFA-4327-8C8C-FF9894726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2637876"/>
            <a:ext cx="3694901" cy="2269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2714625"/>
          <a:chOff x="914400" y="1028700"/>
          <a:chExt cx="8229600" cy="2714625"/>
        </a:xfrm>
      </p:grpSpPr>
      <p:sp>
        <p:nvSpPr>
          <p:cNvPr id="2" name="TextBox 1"/>
          <p:cNvSpPr txBox="1"/>
          <p:nvPr/>
        </p:nvSpPr>
        <p:spPr>
          <a:xfrm>
            <a:off x="179512" y="123478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 dirty="0">
                <a:solidFill>
                  <a:srgbClr val="FFAB40">
                    <a:alpha val="100000"/>
                  </a:srgbClr>
                </a:solidFill>
                <a:latin typeface="Calibri"/>
              </a:rPr>
              <a:t>Python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685" y="559098"/>
            <a:ext cx="3441576" cy="40934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Finalized Python code for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BLLiM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and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GLLiM-Lw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.
Removed dependencies on R for better reproducibility.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BLLiM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uncovers distinct protein networks via graphical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modelingGLLiM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fails to extract modular structure — no cluster-level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insightNetwork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 reveals biologically meaningful groupings (e.g., stress proteins)Matches Figure 4 from </a:t>
            </a:r>
            <a:r>
              <a:rPr lang="en-US" sz="2000" u="none" strike="noStrike" cap="none" spc="0" dirty="0" err="1">
                <a:solidFill>
                  <a:srgbClr val="FFFFFF">
                    <a:alpha val="100000"/>
                  </a:srgbClr>
                </a:solidFill>
                <a:latin typeface="Calibri"/>
              </a:rPr>
              <a:t>Blein</a:t>
            </a:r>
            <a:r>
              <a:rPr lang="en-US" sz="2000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-Nicolas (2024)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8A93A1-BB22-4CB3-8EB1-29E5F3F66A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504" y="1707654"/>
            <a:ext cx="4527811" cy="2246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3131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rgbClr val="FFC000"/>
                </a:solidFill>
              </a:rPr>
              <a:t>Dataset Overview: Maize Proteomic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6731202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• Dataset Source: </a:t>
            </a:r>
            <a:r>
              <a:rPr dirty="0" err="1">
                <a:solidFill>
                  <a:schemeClr val="bg1"/>
                </a:solidFill>
              </a:rPr>
              <a:t>Blein</a:t>
            </a:r>
            <a:r>
              <a:rPr dirty="0">
                <a:solidFill>
                  <a:schemeClr val="bg1"/>
                </a:solidFill>
              </a:rPr>
              <a:t>-Nicolas et al. (2024)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• 973 proteomic features (protein abundance levels)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• 233 maize plant samples under drought stress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• 2 response traits to predict: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     - LAI.WD (Leaf Area Index under Water Deficit)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     - WU.WD (Water Use under Water Deficit)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• Goal: Predict these traits from high-dimensional protein expressions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8829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rgbClr val="FFC000"/>
                </a:solidFill>
              </a:rPr>
              <a:t>Synthetic RMSE Comparison: </a:t>
            </a:r>
            <a:r>
              <a:rPr dirty="0" err="1">
                <a:solidFill>
                  <a:srgbClr val="FFC000"/>
                </a:solidFill>
              </a:rPr>
              <a:t>GLLiM</a:t>
            </a:r>
            <a:r>
              <a:rPr dirty="0">
                <a:solidFill>
                  <a:srgbClr val="FFC000"/>
                </a:solidFill>
              </a:rPr>
              <a:t> vs </a:t>
            </a:r>
            <a:r>
              <a:rPr dirty="0" err="1">
                <a:solidFill>
                  <a:srgbClr val="FFC000"/>
                </a:solidFill>
              </a:rPr>
              <a:t>BLLiM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536193"/>
            <a:ext cx="6508385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- RMSE across 12 synthetic datasets using nonlinear functions f, g, h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- </a:t>
            </a:r>
            <a:r>
              <a:rPr dirty="0" err="1">
                <a:solidFill>
                  <a:schemeClr val="bg1"/>
                </a:solidFill>
              </a:rPr>
              <a:t>GLLiM</a:t>
            </a:r>
            <a:r>
              <a:rPr dirty="0">
                <a:solidFill>
                  <a:schemeClr val="bg1"/>
                </a:solidFill>
              </a:rPr>
              <a:t> performs better in independent noise settings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- </a:t>
            </a:r>
            <a:r>
              <a:rPr dirty="0" err="1">
                <a:solidFill>
                  <a:schemeClr val="bg1"/>
                </a:solidFill>
              </a:rPr>
              <a:t>BLLiM</a:t>
            </a:r>
            <a:r>
              <a:rPr dirty="0">
                <a:solidFill>
                  <a:schemeClr val="bg1"/>
                </a:solidFill>
              </a:rPr>
              <a:t> outperforms under structured noise (Block, Toeplitz)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- Confirms </a:t>
            </a:r>
            <a:r>
              <a:rPr dirty="0" err="1">
                <a:solidFill>
                  <a:schemeClr val="bg1"/>
                </a:solidFill>
              </a:rPr>
              <a:t>BLLiM's</a:t>
            </a:r>
            <a:r>
              <a:rPr dirty="0">
                <a:solidFill>
                  <a:schemeClr val="bg1"/>
                </a:solidFill>
              </a:rPr>
              <a:t> robustness for heterogeneous data</a:t>
            </a:r>
          </a:p>
        </p:txBody>
      </p:sp>
      <p:pic>
        <p:nvPicPr>
          <p:cNvPr id="4" name="Picture 3" descr="f7f10cd0-205b-4834-8086-d8d5dd1c05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013521"/>
            <a:ext cx="6858000" cy="2913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0676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AU" dirty="0">
                <a:solidFill>
                  <a:srgbClr val="FFC000"/>
                </a:solidFill>
              </a:rPr>
              <a:t>Synthetic</a:t>
            </a:r>
            <a:r>
              <a:rPr dirty="0">
                <a:solidFill>
                  <a:srgbClr val="FFC000"/>
                </a:solidFill>
              </a:rPr>
              <a:t> Data Evaluation – RMSE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5930"/>
            <a:ext cx="7617791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</a:rPr>
              <a:t>RMSE comparison using 12 synthetic datasets with nonlinear functions (f, g, 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 err="1">
                <a:solidFill>
                  <a:schemeClr val="bg1"/>
                </a:solidFill>
              </a:rPr>
              <a:t>GLLiM</a:t>
            </a:r>
            <a:r>
              <a:rPr lang="en-AU" dirty="0">
                <a:solidFill>
                  <a:schemeClr val="bg1"/>
                </a:solidFill>
              </a:rPr>
              <a:t> performs better under independent (diagonal) noise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 err="1">
                <a:solidFill>
                  <a:schemeClr val="bg1"/>
                </a:solidFill>
              </a:rPr>
              <a:t>BLLiM</a:t>
            </a:r>
            <a:r>
              <a:rPr lang="en-AU" dirty="0">
                <a:solidFill>
                  <a:schemeClr val="bg1"/>
                </a:solidFill>
              </a:rPr>
              <a:t> outperforms under structured noise (Block, Toeplitz)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</a:rPr>
              <a:t>Confirms </a:t>
            </a:r>
            <a:r>
              <a:rPr lang="en-AU" dirty="0" err="1">
                <a:solidFill>
                  <a:schemeClr val="bg1"/>
                </a:solidFill>
              </a:rPr>
              <a:t>BLLiM’s</a:t>
            </a:r>
            <a:r>
              <a:rPr lang="en-AU" dirty="0">
                <a:solidFill>
                  <a:schemeClr val="bg1"/>
                </a:solidFill>
              </a:rPr>
              <a:t> strength in </a:t>
            </a:r>
            <a:r>
              <a:rPr lang="en-AU" dirty="0" err="1">
                <a:solidFill>
                  <a:schemeClr val="bg1"/>
                </a:solidFill>
              </a:rPr>
              <a:t>modeling</a:t>
            </a:r>
            <a:r>
              <a:rPr lang="en-AU" dirty="0">
                <a:solidFill>
                  <a:schemeClr val="bg1"/>
                </a:solidFill>
              </a:rPr>
              <a:t> heterogeneity and complex structure</a:t>
            </a:r>
          </a:p>
        </p:txBody>
      </p:sp>
      <p:pic>
        <p:nvPicPr>
          <p:cNvPr id="4" name="Picture 3" descr="8758cc97-e420-4062-96bb-47a9b4447b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562830"/>
            <a:ext cx="6858000" cy="2512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8791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rgbClr val="FFC000"/>
                </a:solidFill>
              </a:rPr>
              <a:t>Python Implementation: </a:t>
            </a:r>
            <a:r>
              <a:rPr dirty="0" err="1">
                <a:solidFill>
                  <a:srgbClr val="FFC000"/>
                </a:solidFill>
              </a:rPr>
              <a:t>BLLiM</a:t>
            </a:r>
            <a:r>
              <a:rPr dirty="0">
                <a:solidFill>
                  <a:srgbClr val="FFC000"/>
                </a:solidFill>
              </a:rPr>
              <a:t>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# Example: Python implementation of </a:t>
            </a:r>
            <a:r>
              <a:rPr dirty="0" err="1">
                <a:solidFill>
                  <a:schemeClr val="bg1"/>
                </a:solidFill>
              </a:rPr>
              <a:t>BLLiM</a:t>
            </a:r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from </a:t>
            </a:r>
            <a:r>
              <a:rPr dirty="0" err="1">
                <a:solidFill>
                  <a:schemeClr val="bg1"/>
                </a:solidFill>
              </a:rPr>
              <a:t>bllim</a:t>
            </a:r>
            <a:r>
              <a:rPr dirty="0">
                <a:solidFill>
                  <a:schemeClr val="bg1"/>
                </a:solidFill>
              </a:rPr>
              <a:t> import </a:t>
            </a:r>
            <a:r>
              <a:rPr dirty="0" err="1">
                <a:solidFill>
                  <a:schemeClr val="bg1"/>
                </a:solidFill>
              </a:rPr>
              <a:t>BLLiM</a:t>
            </a:r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# Initialize the model with 5 clusters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model = </a:t>
            </a:r>
            <a:r>
              <a:rPr dirty="0" err="1">
                <a:solidFill>
                  <a:schemeClr val="bg1"/>
                </a:solidFill>
              </a:rPr>
              <a:t>BLLiM</a:t>
            </a:r>
            <a:r>
              <a:rPr dirty="0">
                <a:solidFill>
                  <a:schemeClr val="bg1"/>
                </a:solidFill>
              </a:rPr>
              <a:t>(K=5, </a:t>
            </a:r>
            <a:r>
              <a:rPr dirty="0" err="1">
                <a:solidFill>
                  <a:schemeClr val="bg1"/>
                </a:solidFill>
              </a:rPr>
              <a:t>max_iter</a:t>
            </a:r>
            <a:r>
              <a:rPr dirty="0">
                <a:solidFill>
                  <a:schemeClr val="bg1"/>
                </a:solidFill>
              </a:rPr>
              <a:t>=100, </a:t>
            </a:r>
            <a:r>
              <a:rPr dirty="0" err="1">
                <a:solidFill>
                  <a:schemeClr val="bg1"/>
                </a:solidFill>
              </a:rPr>
              <a:t>tol</a:t>
            </a:r>
            <a:r>
              <a:rPr dirty="0">
                <a:solidFill>
                  <a:schemeClr val="bg1"/>
                </a:solidFill>
              </a:rPr>
              <a:t>=1e-4)</a:t>
            </a:r>
          </a:p>
          <a:p>
            <a:pPr>
              <a:defRPr sz="1600"/>
            </a:pPr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# Fit to training data</a:t>
            </a:r>
          </a:p>
          <a:p>
            <a:pPr>
              <a:defRPr sz="1600"/>
            </a:pPr>
            <a:r>
              <a:rPr dirty="0" err="1">
                <a:solidFill>
                  <a:schemeClr val="bg1"/>
                </a:solidFill>
              </a:rPr>
              <a:t>model.fit</a:t>
            </a:r>
            <a:r>
              <a:rPr dirty="0">
                <a:solidFill>
                  <a:schemeClr val="bg1"/>
                </a:solidFill>
              </a:rPr>
              <a:t>(</a:t>
            </a:r>
            <a:r>
              <a:rPr dirty="0" err="1">
                <a:solidFill>
                  <a:schemeClr val="bg1"/>
                </a:solidFill>
              </a:rPr>
              <a:t>X_train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Y_train</a:t>
            </a:r>
            <a:r>
              <a:rPr dirty="0">
                <a:solidFill>
                  <a:schemeClr val="bg1"/>
                </a:solidFill>
              </a:rPr>
              <a:t>)</a:t>
            </a:r>
          </a:p>
          <a:p>
            <a:pPr>
              <a:defRPr sz="1600"/>
            </a:pPr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# Predict cluster responsibilities and regression outputs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coefficients = </a:t>
            </a:r>
            <a:r>
              <a:rPr dirty="0" err="1">
                <a:solidFill>
                  <a:schemeClr val="bg1"/>
                </a:solidFill>
              </a:rPr>
              <a:t>model.get_regression_weights</a:t>
            </a:r>
            <a:r>
              <a:rPr dirty="0">
                <a:solidFill>
                  <a:schemeClr val="bg1"/>
                </a:solidFill>
              </a:rPr>
              <a:t>()</a:t>
            </a:r>
          </a:p>
          <a:p>
            <a:pPr>
              <a:defRPr sz="1600"/>
            </a:pPr>
            <a:r>
              <a:rPr dirty="0" err="1">
                <a:solidFill>
                  <a:schemeClr val="bg1"/>
                </a:solidFill>
              </a:rPr>
              <a:t>cluster_assignments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model.predict_cluster_labels</a:t>
            </a:r>
            <a:r>
              <a:rPr dirty="0">
                <a:solidFill>
                  <a:schemeClr val="bg1"/>
                </a:solidFill>
              </a:rPr>
              <a:t>(</a:t>
            </a:r>
            <a:r>
              <a:rPr dirty="0" err="1">
                <a:solidFill>
                  <a:schemeClr val="bg1"/>
                </a:solidFill>
              </a:rPr>
              <a:t>X_test</a:t>
            </a:r>
            <a:r>
              <a:rPr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4013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rgbClr val="FFC000"/>
                </a:solidFill>
              </a:rPr>
              <a:t>Python Implementation (</a:t>
            </a:r>
            <a:r>
              <a:rPr dirty="0" err="1">
                <a:solidFill>
                  <a:srgbClr val="FFC000"/>
                </a:solidFill>
              </a:rPr>
              <a:t>BLLiM</a:t>
            </a:r>
            <a:r>
              <a:rPr dirty="0">
                <a:solidFill>
                  <a:srgbClr val="FFC000"/>
                </a:solidFill>
              </a:rPr>
              <a:t> - Core Structure)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class </a:t>
            </a:r>
            <a:r>
              <a:rPr dirty="0" err="1">
                <a:solidFill>
                  <a:schemeClr val="bg1"/>
                </a:solidFill>
              </a:rPr>
              <a:t>BLLiM</a:t>
            </a:r>
            <a:r>
              <a:rPr dirty="0">
                <a:solidFill>
                  <a:schemeClr val="bg1"/>
                </a:solidFill>
              </a:rPr>
              <a:t>: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def __</a:t>
            </a:r>
            <a:r>
              <a:rPr dirty="0" err="1">
                <a:solidFill>
                  <a:schemeClr val="bg1"/>
                </a:solidFill>
              </a:rPr>
              <a:t>init</a:t>
            </a:r>
            <a:r>
              <a:rPr dirty="0">
                <a:solidFill>
                  <a:schemeClr val="bg1"/>
                </a:solidFill>
              </a:rPr>
              <a:t>__(self, K=5, </a:t>
            </a:r>
            <a:r>
              <a:rPr dirty="0" err="1">
                <a:solidFill>
                  <a:schemeClr val="bg1"/>
                </a:solidFill>
              </a:rPr>
              <a:t>n_blocks</a:t>
            </a:r>
            <a:r>
              <a:rPr dirty="0">
                <a:solidFill>
                  <a:schemeClr val="bg1"/>
                </a:solidFill>
              </a:rPr>
              <a:t>=3, </a:t>
            </a:r>
            <a:r>
              <a:rPr dirty="0" err="1">
                <a:solidFill>
                  <a:schemeClr val="bg1"/>
                </a:solidFill>
              </a:rPr>
              <a:t>max_iter</a:t>
            </a:r>
            <a:r>
              <a:rPr dirty="0">
                <a:solidFill>
                  <a:schemeClr val="bg1"/>
                </a:solidFill>
              </a:rPr>
              <a:t>=100, </a:t>
            </a:r>
            <a:r>
              <a:rPr dirty="0" err="1">
                <a:solidFill>
                  <a:schemeClr val="bg1"/>
                </a:solidFill>
              </a:rPr>
              <a:t>tol</a:t>
            </a:r>
            <a:r>
              <a:rPr dirty="0">
                <a:solidFill>
                  <a:schemeClr val="bg1"/>
                </a:solidFill>
              </a:rPr>
              <a:t>=1e-5):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    </a:t>
            </a:r>
            <a:r>
              <a:rPr dirty="0" err="1">
                <a:solidFill>
                  <a:schemeClr val="bg1"/>
                </a:solidFill>
              </a:rPr>
              <a:t>self.K</a:t>
            </a:r>
            <a:r>
              <a:rPr dirty="0">
                <a:solidFill>
                  <a:schemeClr val="bg1"/>
                </a:solidFill>
              </a:rPr>
              <a:t> = K; </a:t>
            </a:r>
            <a:r>
              <a:rPr dirty="0" err="1">
                <a:solidFill>
                  <a:schemeClr val="bg1"/>
                </a:solidFill>
              </a:rPr>
              <a:t>self.n_blocks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n_blocks</a:t>
            </a:r>
            <a:r>
              <a:rPr dirty="0">
                <a:solidFill>
                  <a:schemeClr val="bg1"/>
                </a:solidFill>
              </a:rPr>
              <a:t>; </a:t>
            </a:r>
            <a:r>
              <a:rPr dirty="0" err="1">
                <a:solidFill>
                  <a:schemeClr val="bg1"/>
                </a:solidFill>
              </a:rPr>
              <a:t>self.max_iter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max_iter</a:t>
            </a:r>
            <a:r>
              <a:rPr dirty="0">
                <a:solidFill>
                  <a:schemeClr val="bg1"/>
                </a:solidFill>
              </a:rPr>
              <a:t>; </a:t>
            </a:r>
            <a:r>
              <a:rPr dirty="0" err="1">
                <a:solidFill>
                  <a:schemeClr val="bg1"/>
                </a:solidFill>
              </a:rPr>
              <a:t>self.tol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tol</a:t>
            </a:r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def fit(self, X, Y):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    for it in range(</a:t>
            </a:r>
            <a:r>
              <a:rPr dirty="0" err="1">
                <a:solidFill>
                  <a:schemeClr val="bg1"/>
                </a:solidFill>
              </a:rPr>
              <a:t>self.max_iter</a:t>
            </a:r>
            <a:r>
              <a:rPr dirty="0">
                <a:solidFill>
                  <a:schemeClr val="bg1"/>
                </a:solidFill>
              </a:rPr>
              <a:t>):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        # E-step: Compute responsibilities R[n, k]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        # M-step: Update A[k], b[k], Sigma[k] using weighted regression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        # Construct block-diagonal covariance from residuals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        pass</a:t>
            </a:r>
          </a:p>
          <a:p>
            <a:pPr>
              <a:defRPr sz="1600"/>
            </a:pPr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def predict(self, Y):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    # Predict X given Y by weighting local expert outputs</a:t>
            </a: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        return prediction</a:t>
            </a:r>
            <a:r>
              <a:rPr lang="en-AU">
                <a:solidFill>
                  <a:schemeClr val="bg1"/>
                </a:solidFill>
              </a:rPr>
              <a:t>s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8563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rgbClr val="FFC000"/>
                </a:solidFill>
              </a:rPr>
              <a:t>Python Implementation: </a:t>
            </a:r>
            <a:r>
              <a:rPr dirty="0" err="1">
                <a:solidFill>
                  <a:srgbClr val="FFC000"/>
                </a:solidFill>
              </a:rPr>
              <a:t>GLLiM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solidFill>
                <a:schemeClr val="bg1"/>
              </a:solidFill>
            </a:endParaRPr>
          </a:p>
          <a:p>
            <a:pPr>
              <a:defRPr sz="1600"/>
            </a:pPr>
            <a:r>
              <a:rPr>
                <a:solidFill>
                  <a:schemeClr val="bg1"/>
                </a:solidFill>
              </a:rPr>
              <a:t># GLLiM: Global Linear Mapping model</a:t>
            </a:r>
          </a:p>
          <a:p>
            <a:pPr>
              <a:defRPr sz="1600"/>
            </a:pPr>
            <a:r>
              <a:rPr>
                <a:solidFill>
                  <a:schemeClr val="bg1"/>
                </a:solidFill>
              </a:rPr>
              <a:t>from gllim import GLLiM</a:t>
            </a:r>
          </a:p>
          <a:p>
            <a:pPr>
              <a:defRPr sz="1600"/>
            </a:pPr>
            <a:r>
              <a:rPr>
                <a:solidFill>
                  <a:schemeClr val="bg1"/>
                </a:solidFill>
              </a:rPr>
              <a:t>model = GLLiM(K=5)</a:t>
            </a:r>
          </a:p>
          <a:p>
            <a:pPr>
              <a:defRPr sz="1600"/>
            </a:pPr>
            <a:r>
              <a:rPr>
                <a:solidFill>
                  <a:schemeClr val="bg1"/>
                </a:solidFill>
              </a:rPr>
              <a:t>model.fit(X_train, Y_train)</a:t>
            </a:r>
          </a:p>
          <a:p>
            <a:pPr>
              <a:defRPr sz="1600"/>
            </a:pPr>
            <a:r>
              <a:rPr>
                <a:solidFill>
                  <a:schemeClr val="bg1"/>
                </a:solidFill>
              </a:rPr>
              <a:t>X_pred = model.predict(Y_test)</a:t>
            </a:r>
          </a:p>
          <a:p>
            <a:pPr>
              <a:defRPr sz="1600"/>
            </a:pPr>
            <a:r>
              <a:rPr>
                <a:solidFill>
                  <a:schemeClr val="bg1"/>
                </a:solidFill>
              </a:rPr>
              <a:t>rmse = compute_rmse(X_test, X_pred)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3745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rgbClr val="FFC000"/>
                </a:solidFill>
              </a:rPr>
              <a:t>Python Implementation: </a:t>
            </a:r>
            <a:r>
              <a:rPr dirty="0" err="1">
                <a:solidFill>
                  <a:srgbClr val="FFC000"/>
                </a:solidFill>
              </a:rPr>
              <a:t>GLLiM-Lw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# </a:t>
            </a:r>
            <a:r>
              <a:rPr dirty="0" err="1">
                <a:solidFill>
                  <a:schemeClr val="bg1"/>
                </a:solidFill>
              </a:rPr>
              <a:t>GLLiM-Lw</a:t>
            </a:r>
            <a:r>
              <a:rPr dirty="0">
                <a:solidFill>
                  <a:schemeClr val="bg1"/>
                </a:solidFill>
              </a:rPr>
              <a:t>: Locally whitened </a:t>
            </a:r>
            <a:r>
              <a:rPr dirty="0" err="1">
                <a:solidFill>
                  <a:schemeClr val="bg1"/>
                </a:solidFill>
              </a:rPr>
              <a:t>GLLiM</a:t>
            </a:r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from </a:t>
            </a:r>
            <a:r>
              <a:rPr dirty="0" err="1">
                <a:solidFill>
                  <a:schemeClr val="bg1"/>
                </a:solidFill>
              </a:rPr>
              <a:t>gllim</a:t>
            </a:r>
            <a:r>
              <a:rPr dirty="0">
                <a:solidFill>
                  <a:schemeClr val="bg1"/>
                </a:solidFill>
              </a:rPr>
              <a:t> import </a:t>
            </a:r>
            <a:r>
              <a:rPr dirty="0" err="1">
                <a:solidFill>
                  <a:schemeClr val="bg1"/>
                </a:solidFill>
              </a:rPr>
              <a:t>GLLiM_Lw</a:t>
            </a:r>
            <a:endParaRPr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dirty="0">
                <a:solidFill>
                  <a:schemeClr val="bg1"/>
                </a:solidFill>
              </a:rPr>
              <a:t>model = </a:t>
            </a:r>
            <a:r>
              <a:rPr dirty="0" err="1">
                <a:solidFill>
                  <a:schemeClr val="bg1"/>
                </a:solidFill>
              </a:rPr>
              <a:t>GLLiM_Lw</a:t>
            </a:r>
            <a:r>
              <a:rPr dirty="0">
                <a:solidFill>
                  <a:schemeClr val="bg1"/>
                </a:solidFill>
              </a:rPr>
              <a:t>(K=5, </a:t>
            </a:r>
            <a:r>
              <a:rPr dirty="0" err="1">
                <a:solidFill>
                  <a:schemeClr val="bg1"/>
                </a:solidFill>
              </a:rPr>
              <a:t>max_iter</a:t>
            </a:r>
            <a:r>
              <a:rPr dirty="0">
                <a:solidFill>
                  <a:schemeClr val="bg1"/>
                </a:solidFill>
              </a:rPr>
              <a:t>=100)</a:t>
            </a:r>
          </a:p>
          <a:p>
            <a:pPr>
              <a:defRPr sz="1600"/>
            </a:pPr>
            <a:r>
              <a:rPr dirty="0" err="1">
                <a:solidFill>
                  <a:schemeClr val="bg1"/>
                </a:solidFill>
              </a:rPr>
              <a:t>model.fit</a:t>
            </a:r>
            <a:r>
              <a:rPr dirty="0">
                <a:solidFill>
                  <a:schemeClr val="bg1"/>
                </a:solidFill>
              </a:rPr>
              <a:t>(</a:t>
            </a:r>
            <a:r>
              <a:rPr dirty="0" err="1">
                <a:solidFill>
                  <a:schemeClr val="bg1"/>
                </a:solidFill>
              </a:rPr>
              <a:t>X_train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Y_train</a:t>
            </a:r>
            <a:r>
              <a:rPr dirty="0">
                <a:solidFill>
                  <a:schemeClr val="bg1"/>
                </a:solidFill>
              </a:rPr>
              <a:t>)</a:t>
            </a:r>
          </a:p>
          <a:p>
            <a:pPr>
              <a:defRPr sz="1600"/>
            </a:pPr>
            <a:r>
              <a:rPr dirty="0" err="1">
                <a:solidFill>
                  <a:schemeClr val="bg1"/>
                </a:solidFill>
              </a:rPr>
              <a:t>X_pred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model.predict</a:t>
            </a:r>
            <a:r>
              <a:rPr dirty="0">
                <a:solidFill>
                  <a:schemeClr val="bg1"/>
                </a:solidFill>
              </a:rPr>
              <a:t>(</a:t>
            </a:r>
            <a:r>
              <a:rPr dirty="0" err="1">
                <a:solidFill>
                  <a:schemeClr val="bg1"/>
                </a:solidFill>
              </a:rPr>
              <a:t>Y_test</a:t>
            </a:r>
            <a:r>
              <a:rPr dirty="0">
                <a:solidFill>
                  <a:schemeClr val="bg1"/>
                </a:solidFill>
              </a:rPr>
              <a:t>)</a:t>
            </a:r>
          </a:p>
          <a:p>
            <a:pPr>
              <a:defRPr sz="1600"/>
            </a:pPr>
            <a:r>
              <a:rPr dirty="0" err="1">
                <a:solidFill>
                  <a:schemeClr val="bg1"/>
                </a:solidFill>
              </a:rPr>
              <a:t>rmse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compute_rmse</a:t>
            </a:r>
            <a:r>
              <a:rPr dirty="0">
                <a:solidFill>
                  <a:schemeClr val="bg1"/>
                </a:solidFill>
              </a:rPr>
              <a:t>(</a:t>
            </a:r>
            <a:r>
              <a:rPr dirty="0" err="1">
                <a:solidFill>
                  <a:schemeClr val="bg1"/>
                </a:solidFill>
              </a:rPr>
              <a:t>X_test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X_pred</a:t>
            </a:r>
            <a:r>
              <a:rPr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8699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rgbClr val="FFC000"/>
                </a:solidFill>
              </a:rPr>
              <a:t>Limitations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203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Translating complex R-based </a:t>
            </a:r>
            <a:r>
              <a:rPr dirty="0" err="1">
                <a:solidFill>
                  <a:schemeClr val="bg1"/>
                </a:solidFill>
              </a:rPr>
              <a:t>BLLiM</a:t>
            </a:r>
            <a:r>
              <a:rPr dirty="0">
                <a:solidFill>
                  <a:schemeClr val="bg1"/>
                </a:solidFill>
              </a:rPr>
              <a:t> and </a:t>
            </a:r>
            <a:r>
              <a:rPr dirty="0" err="1">
                <a:solidFill>
                  <a:schemeClr val="bg1"/>
                </a:solidFill>
              </a:rPr>
              <a:t>GLLiM-Lw</a:t>
            </a:r>
            <a:r>
              <a:rPr dirty="0">
                <a:solidFill>
                  <a:schemeClr val="bg1"/>
                </a:solidFill>
              </a:rPr>
              <a:t> algorithms to Python required extensive debugging and validation.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Memory challenges with high-dimensional covariance matrices during implementation.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Significant experimentation needed for optimal selection of cluster numbers (K).</a:t>
            </a:r>
          </a:p>
          <a:p>
            <a:pPr>
              <a:defRPr sz="1800"/>
            </a:pPr>
            <a:r>
              <a:rPr dirty="0">
                <a:solidFill>
                  <a:schemeClr val="bg1"/>
                </a:solidFill>
              </a:rPr>
              <a:t>Interpreting complex biological data necessitated multidisciplinary validation and careful cross-checking.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324225"/>
          <a:chOff x="914400" y="1028700"/>
          <a:chExt cx="8229600" cy="3324225"/>
        </a:xfrm>
      </p:grpSpPr>
      <p:sp>
        <p:nvSpPr>
          <p:cNvPr id="2" name="TextBox 1"/>
          <p:cNvSpPr txBox="1"/>
          <p:nvPr/>
        </p:nvSpPr>
        <p:spPr>
          <a:xfrm>
            <a:off x="914400" y="1028700"/>
            <a:ext cx="7315200" cy="4000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 dirty="0">
                <a:solidFill>
                  <a:srgbClr val="FFAB40">
                    <a:alpha val="100000"/>
                  </a:srgbClr>
                </a:solidFill>
                <a:latin typeface="Calibri"/>
              </a:rPr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00225"/>
            <a:ext cx="7315200" cy="1524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Successfully recreated original paper's key figures.
Validated model robustness on synthetic data.
Achieved accurate prediction and interpretability on real-world data.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4676775"/>
          <a:chOff x="914400" y="1028700"/>
          <a:chExt cx="8229600" cy="4676775"/>
        </a:xfrm>
      </p:grpSpPr>
      <p:sp>
        <p:nvSpPr>
          <p:cNvPr id="2" name="TextBox 1"/>
          <p:cNvSpPr txBox="1"/>
          <p:nvPr/>
        </p:nvSpPr>
        <p:spPr>
          <a:xfrm>
            <a:off x="1828800" y="1028700"/>
            <a:ext cx="548640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ctr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u="none" strike="noStrike" cap="none" spc="0">
                <a:solidFill>
                  <a:srgbClr val="FFAB40">
                    <a:alpha val="100000"/>
                  </a:srgbClr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00225"/>
            <a:ext cx="7315200" cy="28765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ctr" rtl="0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The project successfully enhanced the interpretability and functionality of statistical models and provided a Python-based framework for future research in genomics and clinical bioinformatics.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828800" y="1028700"/>
          <a:ext cx="7315200" cy="3581400"/>
          <a:chOff x="1828800" y="1028700"/>
          <a:chExt cx="7315200" cy="3581400"/>
        </a:xfrm>
      </p:grpSpPr>
      <p:sp>
        <p:nvSpPr>
          <p:cNvPr id="2" name="TextBox 1"/>
          <p:cNvSpPr txBox="1"/>
          <p:nvPr/>
        </p:nvSpPr>
        <p:spPr>
          <a:xfrm>
            <a:off x="1828800" y="1028700"/>
            <a:ext cx="54864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ctr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b="1" u="none" strike="noStrike" cap="none" spc="0">
                <a:solidFill>
                  <a:srgbClr val="FFFFFF">
                    <a:alpha val="100000"/>
                  </a:srgbClr>
                </a:solidFill>
                <a:latin typeface="Calibri"/>
              </a:rPr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eme13">
  <a:themeElements>
    <a:clrScheme name="Theme13">
      <a:dk1>
        <a:sysClr val="windowText" lastClr="000000"/>
      </a:dk1>
      <a:lt1>
        <a:sysClr val="window" lastClr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Theme1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1483</Words>
  <Application>Microsoft Office PowerPoint</Application>
  <PresentationFormat>On-screen Show (16:9)</PresentationFormat>
  <Paragraphs>145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Theme13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Venkatesh Athikulam Muthusamy</cp:lastModifiedBy>
  <cp:revision>22</cp:revision>
  <dcterms:created xsi:type="dcterms:W3CDTF">2025-05-21T06:27:25Z</dcterms:created>
  <dcterms:modified xsi:type="dcterms:W3CDTF">2025-05-22T07:12:58Z</dcterms:modified>
  <cp:category/>
  <cp:contentStatus/>
</cp:coreProperties>
</file>